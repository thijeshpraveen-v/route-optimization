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7766"/>
            <a:ext cx="9144000" cy="5143500"/>
          </a:xfrm>
          <a:prstGeom prst="rect">
            <a:avLst/>
          </a:prstGeom>
          <a:solidFill>
            <a:srgbClr val="05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9144000" cy="2011680"/>
          </a:xfrm>
          <a:prstGeom prst="rect">
            <a:avLst/>
          </a:prstGeom>
          <a:solidFill>
            <a:srgbClr val="08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>
                <a:solidFill>
                  <a:srgbClr val="F5F8FF"/>
                </a:solidFill>
                <a:latin typeface="Calibri"/>
              </a:defRPr>
            </a:pPr>
            <a:r>
              <a:t>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F8FF"/>
                </a:solidFill>
                <a:latin typeface="Calibri"/>
              </a:defRPr>
            </a:pPr>
            <a:r>
              <a:rPr lang="en-IN" dirty="0"/>
              <a:t>AI Route optimization Agent</a:t>
            </a:r>
          </a:p>
          <a:p>
            <a:pPr algn="ctr">
              <a:spcBef>
                <a:spcPts val="400"/>
              </a:spcBef>
              <a:defRPr sz="2600" b="0">
                <a:solidFill>
                  <a:srgbClr val="38BDF8"/>
                </a:solidFill>
                <a:latin typeface="Calibri"/>
              </a:defRPr>
            </a:pPr>
            <a:r>
              <a:rPr lang="en-IN" dirty="0"/>
              <a:t>Team: --rebase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4428"/>
            <a:ext cx="1828800" cy="475488"/>
          </a:xfrm>
          <a:prstGeom prst="rect">
            <a:avLst/>
          </a:prstGeom>
          <a:solidFill>
            <a:srgbClr val="141E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300">
                <a:solidFill>
                  <a:srgbClr val="BECDE1"/>
                </a:solidFill>
                <a:latin typeface="Calibri"/>
              </a:defRPr>
            </a:pPr>
            <a:r>
              <a:t>⚡  Route Optimization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3433572"/>
            <a:ext cx="1828800" cy="475488"/>
          </a:xfrm>
          <a:prstGeom prst="rect">
            <a:avLst/>
          </a:prstGeom>
          <a:solidFill>
            <a:srgbClr val="141E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300">
                <a:solidFill>
                  <a:srgbClr val="BECDE1"/>
                </a:solidFill>
                <a:latin typeface="Calibri"/>
              </a:defRPr>
            </a:pPr>
            <a:r>
              <a:t>🚦  Traffic Intelligence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415129"/>
            <a:ext cx="1828800" cy="475488"/>
          </a:xfrm>
          <a:prstGeom prst="rect">
            <a:avLst/>
          </a:prstGeom>
          <a:solidFill>
            <a:srgbClr val="141E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300">
                <a:solidFill>
                  <a:srgbClr val="BECDE1"/>
                </a:solidFill>
                <a:latin typeface="Calibri"/>
              </a:defRPr>
            </a:pPr>
            <a:r>
              <a:t>🧠  Continuous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415129"/>
            <a:ext cx="1828800" cy="475488"/>
          </a:xfrm>
          <a:prstGeom prst="rect">
            <a:avLst/>
          </a:prstGeom>
          <a:solidFill>
            <a:srgbClr val="141E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300">
                <a:solidFill>
                  <a:srgbClr val="BECDE1"/>
                </a:solidFill>
                <a:latin typeface="Calibri"/>
              </a:defRPr>
            </a:pPr>
            <a:r>
              <a:t>🔄  Reverse Logistics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🚨  The Last-Mile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Last-mile delivery = 53% of total logistics cost, yet deeply inefficient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4114800" cy="1463040"/>
          </a:xfrm>
          <a:prstGeom prst="rect">
            <a:avLst/>
          </a:prstGeom>
          <a:solidFill>
            <a:srgbClr val="14192D"/>
          </a:solidFill>
          <a:ln w="1270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defRPr sz="1700" b="1">
                <a:solidFill>
                  <a:srgbClr val="FFA032"/>
                </a:solidFill>
                <a:latin typeface="Calibri"/>
              </a:defRPr>
            </a:pPr>
            <a:r>
              <a:t>🚗  Fleet Waste</a:t>
            </a:r>
          </a:p>
          <a:p>
            <a:pPr>
              <a:spcBef>
                <a:spcPts val="6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1 vehicle per order = 14 trucks for 14 deliveries. No route sharing.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188720"/>
            <a:ext cx="4114800" cy="1463040"/>
          </a:xfrm>
          <a:prstGeom prst="rect">
            <a:avLst/>
          </a:prstGeom>
          <a:solidFill>
            <a:srgbClr val="14192D"/>
          </a:solidFill>
          <a:ln w="1270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defRPr sz="1700" b="1">
                <a:solidFill>
                  <a:srgbClr val="FFA032"/>
                </a:solidFill>
                <a:latin typeface="Calibri"/>
              </a:defRPr>
            </a:pPr>
            <a:r>
              <a:t>⏰  SLA Failures</a:t>
            </a:r>
          </a:p>
          <a:p>
            <a:pPr>
              <a:spcBef>
                <a:spcPts val="6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Static routing can't adapt to Bengaluru's unpredictable congestion.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4114800" cy="1463040"/>
          </a:xfrm>
          <a:prstGeom prst="rect">
            <a:avLst/>
          </a:prstGeom>
          <a:solidFill>
            <a:srgbClr val="14192D"/>
          </a:solidFill>
          <a:ln w="1270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defRPr sz="1700" b="1">
                <a:solidFill>
                  <a:srgbClr val="FFA032"/>
                </a:solidFill>
                <a:latin typeface="Calibri"/>
              </a:defRPr>
            </a:pPr>
            <a:r>
              <a:t>🔄  Siloed Ops</a:t>
            </a:r>
          </a:p>
          <a:p>
            <a:pPr>
              <a:spcBef>
                <a:spcPts val="6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Delivery trucks return empty. Return pickups travel out empty.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880360"/>
            <a:ext cx="4114800" cy="1463040"/>
          </a:xfrm>
          <a:prstGeom prst="rect">
            <a:avLst/>
          </a:prstGeom>
          <a:solidFill>
            <a:srgbClr val="14192D"/>
          </a:solidFill>
          <a:ln w="1270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defRPr sz="1700" b="1">
                <a:solidFill>
                  <a:srgbClr val="FFA032"/>
                </a:solidFill>
                <a:latin typeface="Calibri"/>
              </a:defRPr>
            </a:pPr>
            <a:r>
              <a:t>📈  Zero Learning</a:t>
            </a:r>
          </a:p>
          <a:p>
            <a:pPr>
              <a:spcBef>
                <a:spcPts val="6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Same mistakes day after day — no system to learn actual travel times.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💡  Our Solution — 3-Layer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Each layer solves one failure mode. Together: end-to-end intelligent logistics.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07592"/>
            <a:ext cx="86868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710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8FF"/>
                </a:solidFill>
                <a:latin typeface="Calibri"/>
              </a:defRPr>
            </a:pPr>
            <a:r>
              <a:t>Route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710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OR-Tools VRPTW  ·  14 → 4 trucks  ·  134km saved  ·  100% SLA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92808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85416"/>
            <a:ext cx="868680" cy="384048"/>
          </a:xfrm>
          <a:prstGeom prst="rect">
            <a:avLst/>
          </a:prstGeom>
          <a:solidFill>
            <a:srgbClr val="6E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8FF"/>
                </a:solidFill>
                <a:latin typeface="Calibri"/>
              </a:defRPr>
            </a:pPr>
            <a:r>
              <a:t>Traffic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48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Bengaluru congestion simulation  ·  2.8× Hosur/Silk Board  ·  Dynamic rerouting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063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868680" cy="384048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266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8FF"/>
                </a:solidFill>
                <a:latin typeface="Calibri"/>
              </a:defRPr>
            </a:pPr>
            <a:r>
              <a:t>Continuous Learning (EMA)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0266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ETA error 13% → 4%  ·  18 segment corrections  ·  4 rounds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48456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941064"/>
            <a:ext cx="868680" cy="384048"/>
          </a:xfrm>
          <a:prstGeom prst="rect">
            <a:avLst/>
          </a:prstGeom>
          <a:solidFill>
            <a:srgbClr val="43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  <a:latin typeface="Calibri"/>
              </a:defRPr>
            </a:pPr>
            <a:r>
              <a:t>Module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04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8FF"/>
                </a:solidFill>
                <a:latin typeface="Calibri"/>
              </a:defRPr>
            </a:pPr>
            <a:r>
              <a:t>Forward + Reverse Logistics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9044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17 siloed vehicles → 4 unified  ·  Returns collected on same 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E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📊  Layer 1 — Route Optimization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OR-Tools VRPTW vs Greedy Nearest-Neighbour baseline · Bengaluru 14-stop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2651760" cy="3657600"/>
          </a:xfrm>
          <a:prstGeom prst="rect">
            <a:avLst/>
          </a:prstGeom>
          <a:solidFill>
            <a:srgbClr val="641414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F5F8FF"/>
                </a:solidFill>
                <a:latin typeface="Calibri"/>
              </a:defRPr>
            </a:pPr>
            <a:r>
              <a:t>❌  Naive</a:t>
            </a:r>
            <a:br/>
            <a:r>
              <a:t>(No AI)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Vehicles</a:t>
            </a:r>
          </a:p>
          <a:p>
            <a:pPr>
              <a:spcBef>
                <a:spcPts val="100"/>
              </a:spcBef>
              <a:defRPr sz="2000" b="1">
                <a:solidFill>
                  <a:srgbClr val="F05050"/>
                </a:solidFill>
                <a:latin typeface="Calibri"/>
              </a:defRPr>
            </a:pPr>
            <a:r>
              <a:t>14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Distance</a:t>
            </a:r>
          </a:p>
          <a:p>
            <a:pPr>
              <a:spcBef>
                <a:spcPts val="100"/>
              </a:spcBef>
              <a:defRPr sz="2000" b="1">
                <a:solidFill>
                  <a:srgbClr val="F5F8FF"/>
                </a:solidFill>
                <a:latin typeface="Calibri"/>
              </a:defRPr>
            </a:pPr>
            <a:r>
              <a:t>256 km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SLA</a:t>
            </a:r>
          </a:p>
          <a:p>
            <a:pPr>
              <a:spcBef>
                <a:spcPts val="100"/>
              </a:spcBef>
              <a:defRPr sz="2000" b="1">
                <a:solidFill>
                  <a:srgbClr val="F05050"/>
                </a:solidFill>
                <a:latin typeface="Calibri"/>
              </a:defRPr>
            </a:pPr>
            <a:r>
              <a:t>35.7%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Cost</a:t>
            </a:r>
          </a:p>
          <a:p>
            <a:pPr>
              <a:spcBef>
                <a:spcPts val="100"/>
              </a:spcBef>
              <a:defRPr sz="2000" b="1">
                <a:solidFill>
                  <a:srgbClr val="F5F8FF"/>
                </a:solidFill>
                <a:latin typeface="Calibri"/>
              </a:defRPr>
            </a:pPr>
            <a:r>
              <a:t>₹3071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234440"/>
            <a:ext cx="2651760" cy="3657600"/>
          </a:xfrm>
          <a:prstGeom prst="rect">
            <a:avLst/>
          </a:prstGeom>
          <a:solidFill>
            <a:srgbClr val="0E4623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F5F8FF"/>
                </a:solidFill>
                <a:latin typeface="Calibri"/>
              </a:defRPr>
            </a:pPr>
            <a:r>
              <a:t>✅  AI</a:t>
            </a:r>
            <a:br/>
            <a:r>
              <a:t>Optimized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Vehicles</a:t>
            </a:r>
          </a:p>
          <a:p>
            <a:pPr>
              <a:spcBef>
                <a:spcPts val="100"/>
              </a:spcBef>
              <a:defRPr sz="2000" b="1">
                <a:solidFill>
                  <a:srgbClr val="43C85A"/>
                </a:solidFill>
                <a:latin typeface="Calibri"/>
              </a:defRPr>
            </a:pPr>
            <a:r>
              <a:t>4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Distance</a:t>
            </a:r>
          </a:p>
          <a:p>
            <a:pPr>
              <a:spcBef>
                <a:spcPts val="100"/>
              </a:spcBef>
              <a:defRPr sz="2000" b="1">
                <a:solidFill>
                  <a:srgbClr val="F5F8FF"/>
                </a:solidFill>
                <a:latin typeface="Calibri"/>
              </a:defRPr>
            </a:pPr>
            <a:r>
              <a:t>122 km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SLA</a:t>
            </a:r>
          </a:p>
          <a:p>
            <a:pPr>
              <a:spcBef>
                <a:spcPts val="100"/>
              </a:spcBef>
              <a:defRPr sz="2000" b="1">
                <a:solidFill>
                  <a:srgbClr val="43C85A"/>
                </a:solidFill>
                <a:latin typeface="Calibri"/>
              </a:defRPr>
            </a:pPr>
            <a:r>
              <a:t>100%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Cost</a:t>
            </a:r>
          </a:p>
          <a:p>
            <a:pPr>
              <a:spcBef>
                <a:spcPts val="100"/>
              </a:spcBef>
              <a:defRPr sz="2000" b="1">
                <a:solidFill>
                  <a:srgbClr val="F5F8FF"/>
                </a:solidFill>
                <a:latin typeface="Calibri"/>
              </a:defRPr>
            </a:pPr>
            <a:r>
              <a:t>₹1464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2651760" cy="3657600"/>
          </a:xfrm>
          <a:prstGeom prst="rect">
            <a:avLst/>
          </a:prstGeom>
          <a:solidFill>
            <a:srgbClr val="0A3264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F5F8FF"/>
                </a:solidFill>
                <a:latin typeface="Calibri"/>
              </a:defRPr>
            </a:pPr>
            <a:r>
              <a:t>🚀  Δ Improvement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Fleet</a:t>
            </a:r>
          </a:p>
          <a:p>
            <a:pPr>
              <a:spcBef>
                <a:spcPts val="100"/>
              </a:spcBef>
              <a:defRPr sz="2000" b="1">
                <a:solidFill>
                  <a:srgbClr val="38BDF8"/>
                </a:solidFill>
                <a:latin typeface="Calibri"/>
              </a:defRPr>
            </a:pPr>
            <a:r>
              <a:t>−10 trucks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Distance</a:t>
            </a:r>
          </a:p>
          <a:p>
            <a:pPr>
              <a:spcBef>
                <a:spcPts val="100"/>
              </a:spcBef>
              <a:defRPr sz="2000" b="1">
                <a:solidFill>
                  <a:srgbClr val="38BDF8"/>
                </a:solidFill>
                <a:latin typeface="Calibri"/>
              </a:defRPr>
            </a:pPr>
            <a:r>
              <a:t>−134 km</a:t>
            </a:r>
            <a:br/>
            <a:r>
              <a:t>(52% less)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SLA Gain</a:t>
            </a:r>
          </a:p>
          <a:p>
            <a:pPr>
              <a:spcBef>
                <a:spcPts val="100"/>
              </a:spcBef>
              <a:defRPr sz="2000" b="1">
                <a:solidFill>
                  <a:srgbClr val="6EF0AE"/>
                </a:solidFill>
                <a:latin typeface="Calibri"/>
              </a:defRPr>
            </a:pPr>
            <a:r>
              <a:t>+64 pts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Savings</a:t>
            </a:r>
          </a:p>
          <a:p>
            <a:pPr>
              <a:spcBef>
                <a:spcPts val="100"/>
              </a:spcBef>
              <a:defRPr sz="2000" b="1">
                <a:solidFill>
                  <a:srgbClr val="6EF0AE"/>
                </a:solidFill>
                <a:latin typeface="Calibri"/>
              </a:defRPr>
            </a:pPr>
            <a:r>
              <a:t>₹1607 saved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43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🚦  Layer 2 — Real-Time Traffic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Simulates Bengaluru's worst traffic and shows AI rerouting vs naive driver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A032"/>
                </a:solidFill>
                <a:latin typeface="Calibri"/>
              </a:defRPr>
            </a:pPr>
            <a:r>
              <a:t>Traffic Events Simulated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🔴  Hosur Rd / Silk Board  ·  2.8× delay  (SEVERE)</a:t>
            </a:r>
          </a:p>
          <a:p>
            <a:pPr>
              <a:spcBef>
                <a:spcPts val="10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🟠  Sarjapur–Bellandur ORR  ·  2.0× delay  (HIGH)</a:t>
            </a:r>
          </a:p>
          <a:p>
            <a:pPr>
              <a:spcBef>
                <a:spcPts val="10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🟡  Citywide rain congestion  ·  1.5× delay  (MODERATE)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1704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8BDF8"/>
                </a:solidFill>
                <a:latin typeface="Calibri"/>
              </a:defRPr>
            </a:pPr>
            <a:r>
              <a:t>3-Scenario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572768"/>
            <a:ext cx="4297680" cy="731520"/>
          </a:xfrm>
          <a:prstGeom prst="rect">
            <a:avLst/>
          </a:prstGeom>
          <a:solidFill>
            <a:srgbClr val="1E2637"/>
          </a:solidFill>
          <a:ln w="889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tlCol="0" anchor="ctr"/>
          <a:lstStyle/>
          <a:p>
            <a:pPr algn="ctr">
              <a:defRPr sz="1300" b="1">
                <a:solidFill>
                  <a:srgbClr val="F05050"/>
                </a:solidFill>
                <a:latin typeface="Calibri"/>
              </a:defRPr>
            </a:pPr>
            <a:r>
              <a:t>⚫  A — Naive (No AI)</a:t>
            </a:r>
          </a:p>
          <a:p>
            <a:pPr>
              <a:spcBef>
                <a:spcPts val="2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  14 trucks   35.7% SLA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395728"/>
            <a:ext cx="4297680" cy="731520"/>
          </a:xfrm>
          <a:prstGeom prst="rect">
            <a:avLst/>
          </a:prstGeom>
          <a:solidFill>
            <a:srgbClr val="1E2637"/>
          </a:solidFill>
          <a:ln w="889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tlCol="0" anchor="ctr"/>
          <a:lstStyle/>
          <a:p>
            <a:pPr algn="ctr">
              <a:defRPr sz="1300" b="1">
                <a:solidFill>
                  <a:srgbClr val="43C85A"/>
                </a:solidFill>
                <a:latin typeface="Calibri"/>
              </a:defRPr>
            </a:pPr>
            <a:r>
              <a:t>🟢  B — AI + Clear Roads</a:t>
            </a:r>
          </a:p>
          <a:p>
            <a:pPr>
              <a:spcBef>
                <a:spcPts val="2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  4 trucks   100% SLA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218688"/>
            <a:ext cx="4297680" cy="731520"/>
          </a:xfrm>
          <a:prstGeom prst="rect">
            <a:avLst/>
          </a:prstGeom>
          <a:solidFill>
            <a:srgbClr val="1E2637"/>
          </a:solidFill>
          <a:ln w="889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🔵  C — AI + Traffic</a:t>
            </a:r>
          </a:p>
          <a:p>
            <a:pPr>
              <a:spcBef>
                <a:spcPts val="2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  4 trucks   93%+ SLA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134917"/>
            <a:ext cx="8229600" cy="713232"/>
          </a:xfrm>
          <a:prstGeom prst="rect">
            <a:avLst/>
          </a:prstGeom>
          <a:solidFill>
            <a:srgbClr val="192D19"/>
          </a:solidFill>
          <a:ln w="19050">
            <a:solidFill>
              <a:srgbClr val="43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500" b="1">
                <a:solidFill>
                  <a:srgbClr val="43C85A"/>
                </a:solidFill>
                <a:latin typeface="Calibri"/>
              </a:defRPr>
            </a:pPr>
            <a:r>
              <a:rPr dirty="0"/>
              <a:t>✅  Key Result: AI rerouting maintains 93%+ SLA vs 35.7% naive under 2.8× Hosur Road congestion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E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🧠  Layer 3 — Continuous Learning (EMA)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System discovers real Bengaluru delays and self-corrects each delivery 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920240" cy="118872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Round 1</a:t>
            </a:r>
            <a:br/>
            <a:r>
              <a:t>ETA Error</a:t>
            </a:r>
          </a:p>
          <a:p>
            <a:pPr algn="ctr">
              <a:spcBef>
                <a:spcPts val="600"/>
              </a:spcBef>
              <a:defRPr sz="2800" b="1">
                <a:solidFill>
                  <a:srgbClr val="F05050"/>
                </a:solidFill>
                <a:latin typeface="Calibri"/>
              </a:defRPr>
            </a:pPr>
            <a:r>
              <a:t>13%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207008"/>
            <a:ext cx="1920240" cy="118872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Round 4</a:t>
            </a:r>
            <a:br/>
            <a:r>
              <a:t>ETA Error</a:t>
            </a:r>
          </a:p>
          <a:p>
            <a:pPr algn="ctr">
              <a:spcBef>
                <a:spcPts val="600"/>
              </a:spcBef>
              <a:defRPr sz="2800" b="1">
                <a:solidFill>
                  <a:srgbClr val="43C85A"/>
                </a:solidFill>
                <a:latin typeface="Calibri"/>
              </a:defRPr>
            </a:pPr>
            <a:r>
              <a:t>4%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207008"/>
            <a:ext cx="1920240" cy="118872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Improvement</a:t>
            </a:r>
          </a:p>
          <a:p>
            <a:pPr algn="ctr">
              <a:spcBef>
                <a:spcPts val="600"/>
              </a:spcBef>
              <a:defRPr sz="2800" b="1">
                <a:solidFill>
                  <a:srgbClr val="6EF0AE"/>
                </a:solidFill>
                <a:latin typeface="Calibri"/>
              </a:defRPr>
            </a:pPr>
            <a:r>
              <a:t>−8 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1207008"/>
            <a:ext cx="1920240" cy="118872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Corrections</a:t>
            </a:r>
            <a:br/>
            <a:r>
              <a:t>Learned</a:t>
            </a:r>
          </a:p>
          <a:p>
            <a:pPr algn="ctr">
              <a:spcBef>
                <a:spcPts val="600"/>
              </a:spcBef>
              <a:defRPr sz="2800" b="1">
                <a:solidFill>
                  <a:srgbClr val="38BDF8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8BDF8"/>
                </a:solidFill>
                <a:latin typeface="Calibri"/>
              </a:defRPr>
            </a:pPr>
            <a:r>
              <a:t>How EMA Correction Works: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i="1">
                <a:solidFill>
                  <a:srgbClr val="6EF0AE"/>
                </a:solidFill>
                <a:latin typeface="Calibri"/>
              </a:defRPr>
            </a:pPr>
            <a:r>
              <a:t>  new_factor = 0.7 × old_factor + 0.3 × observed_factor   (α = 0.3)</a:t>
            </a:r>
          </a:p>
          <a:p>
            <a:pPr>
              <a:spcBef>
                <a:spcPts val="600"/>
              </a:spcBef>
              <a:defRPr sz="1400" i="0">
                <a:solidFill>
                  <a:srgbClr val="8296AF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defRPr sz="1300" i="0">
                <a:solidFill>
                  <a:srgbClr val="BECDE1"/>
                </a:solidFill>
                <a:latin typeface="Calibri"/>
              </a:defRPr>
            </a:pPr>
            <a:r>
              <a:t>  Discovery: Hosur Rd (Depot → Ecity) = 1.55× slower than OSRM predicted</a:t>
            </a:r>
          </a:p>
          <a:p>
            <a:pPr>
              <a:spcBef>
                <a:spcPts val="600"/>
              </a:spcBef>
              <a:defRPr sz="1300" i="0">
                <a:solidFill>
                  <a:srgbClr val="BECDE1"/>
                </a:solidFill>
                <a:latin typeface="Calibri"/>
              </a:defRPr>
            </a:pPr>
            <a:r>
              <a:t>  Discovery: Silk Board junction = 1.45× systematic delay</a:t>
            </a:r>
          </a:p>
          <a:p>
            <a:pPr>
              <a:spcBef>
                <a:spcPts val="600"/>
              </a:spcBef>
              <a:defRPr sz="1300" i="0">
                <a:solidFill>
                  <a:srgbClr val="BECDE1"/>
                </a:solidFill>
                <a:latin typeface="Calibri"/>
              </a:defRPr>
            </a:pPr>
            <a:r>
              <a:t>  Result: Optimizer reschedules those stops earlier or routes around them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E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3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🔄  Module 2 — Forward + Reverse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One AI fleet handles deliveries AND return pickups — zero wasted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2651760" cy="3657600"/>
          </a:xfrm>
          <a:prstGeom prst="rect">
            <a:avLst/>
          </a:prstGeom>
          <a:solidFill>
            <a:srgbClr val="641414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5F8FF"/>
                </a:solidFill>
                <a:latin typeface="Calibri"/>
              </a:defRPr>
            </a:pPr>
            <a:r>
              <a:t>❌  Siloed Fleets</a:t>
            </a:r>
            <a:br/>
            <a:r>
              <a:t>(No AI)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Delivery vehicles</a:t>
            </a:r>
          </a:p>
          <a:p>
            <a:pPr>
              <a:spcBef>
                <a:spcPts val="100"/>
              </a:spcBef>
              <a:defRPr sz="1800" b="1">
                <a:solidFill>
                  <a:srgbClr val="F05050"/>
                </a:solidFill>
                <a:latin typeface="Calibri"/>
              </a:defRPr>
            </a:pPr>
            <a:r>
              <a:t>14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Pickup vehicles</a:t>
            </a:r>
          </a:p>
          <a:p>
            <a:pPr>
              <a:spcBef>
                <a:spcPts val="100"/>
              </a:spcBef>
              <a:defRPr sz="1800" b="1">
                <a:solidFill>
                  <a:srgbClr val="F05050"/>
                </a:solidFill>
                <a:latin typeface="Calibri"/>
              </a:defRPr>
            </a:pPr>
            <a:r>
              <a:t>3 (separate)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Total fleet</a:t>
            </a:r>
          </a:p>
          <a:p>
            <a:pPr>
              <a:spcBef>
                <a:spcPts val="100"/>
              </a:spcBef>
              <a:defRPr sz="1800" b="1">
                <a:solidFill>
                  <a:srgbClr val="F05050"/>
                </a:solidFill>
                <a:latin typeface="Calibri"/>
              </a:defRPr>
            </a:pPr>
            <a:r>
              <a:t>17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Distance</a:t>
            </a:r>
          </a:p>
          <a:p>
            <a:pPr>
              <a:spcBef>
                <a:spcPts val="100"/>
              </a:spcBef>
              <a:defRPr sz="1800" b="1">
                <a:solidFill>
                  <a:srgbClr val="F5F8FF"/>
                </a:solidFill>
                <a:latin typeface="Calibri"/>
              </a:defRPr>
            </a:pPr>
            <a:r>
              <a:t>281 km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Cost</a:t>
            </a:r>
          </a:p>
          <a:p>
            <a:pPr>
              <a:spcBef>
                <a:spcPts val="100"/>
              </a:spcBef>
              <a:defRPr sz="1800" b="1">
                <a:solidFill>
                  <a:srgbClr val="F5F8FF"/>
                </a:solidFill>
                <a:latin typeface="Calibri"/>
              </a:defRPr>
            </a:pPr>
            <a:r>
              <a:t>₹3367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234440"/>
            <a:ext cx="2651760" cy="3657600"/>
          </a:xfrm>
          <a:prstGeom prst="rect">
            <a:avLst/>
          </a:prstGeom>
          <a:solidFill>
            <a:srgbClr val="0E4623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5F8FF"/>
                </a:solidFill>
                <a:latin typeface="Calibri"/>
              </a:defRPr>
            </a:pPr>
            <a:r>
              <a:t>✅  Unified AI Fleet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Delivery stops</a:t>
            </a:r>
          </a:p>
          <a:p>
            <a:pPr>
              <a:spcBef>
                <a:spcPts val="100"/>
              </a:spcBef>
              <a:defRPr sz="1800" b="1">
                <a:solidFill>
                  <a:srgbClr val="43C85A"/>
                </a:solidFill>
                <a:latin typeface="Calibri"/>
              </a:defRPr>
            </a:pPr>
            <a:r>
              <a:t>14 ✓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Pickup stops</a:t>
            </a:r>
          </a:p>
          <a:p>
            <a:pPr>
              <a:spcBef>
                <a:spcPts val="100"/>
              </a:spcBef>
              <a:defRPr sz="1800" b="1">
                <a:solidFill>
                  <a:srgbClr val="43C85A"/>
                </a:solidFill>
                <a:latin typeface="Calibri"/>
              </a:defRPr>
            </a:pPr>
            <a:r>
              <a:t>3 ✓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Total fleet</a:t>
            </a:r>
          </a:p>
          <a:p>
            <a:pPr>
              <a:spcBef>
                <a:spcPts val="100"/>
              </a:spcBef>
              <a:defRPr sz="1800" b="1">
                <a:solidFill>
                  <a:srgbClr val="43C85A"/>
                </a:solidFill>
                <a:latin typeface="Calibri"/>
              </a:defRPr>
            </a:pPr>
            <a:r>
              <a:t>4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Distance</a:t>
            </a:r>
          </a:p>
          <a:p>
            <a:pPr>
              <a:spcBef>
                <a:spcPts val="100"/>
              </a:spcBef>
              <a:defRPr sz="1800" b="1">
                <a:solidFill>
                  <a:srgbClr val="F5F8FF"/>
                </a:solidFill>
                <a:latin typeface="Calibri"/>
              </a:defRPr>
            </a:pPr>
            <a:r>
              <a:t>120 km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Cost</a:t>
            </a:r>
          </a:p>
          <a:p>
            <a:pPr>
              <a:spcBef>
                <a:spcPts val="100"/>
              </a:spcBef>
              <a:defRPr sz="1800" b="1">
                <a:solidFill>
                  <a:srgbClr val="F5F8FF"/>
                </a:solidFill>
                <a:latin typeface="Calibri"/>
              </a:defRPr>
            </a:pPr>
            <a:r>
              <a:t>₹1440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2651760" cy="3657600"/>
          </a:xfrm>
          <a:prstGeom prst="rect">
            <a:avLst/>
          </a:prstGeom>
          <a:solidFill>
            <a:srgbClr val="0A3264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5F8FF"/>
                </a:solidFill>
                <a:latin typeface="Calibri"/>
              </a:defRPr>
            </a:pPr>
            <a:r>
              <a:t>🚀  Δ Impact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Trucks eliminated</a:t>
            </a:r>
          </a:p>
          <a:p>
            <a:pPr>
              <a:spcBef>
                <a:spcPts val="100"/>
              </a:spcBef>
              <a:defRPr sz="1800" b="1">
                <a:solidFill>
                  <a:srgbClr val="38BDF8"/>
                </a:solidFill>
                <a:latin typeface="Calibri"/>
              </a:defRPr>
            </a:pPr>
            <a:r>
              <a:t>−13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Reduction</a:t>
            </a:r>
          </a:p>
          <a:p>
            <a:pPr>
              <a:spcBef>
                <a:spcPts val="100"/>
              </a:spcBef>
              <a:defRPr sz="1800" b="1">
                <a:solidFill>
                  <a:srgbClr val="38BDF8"/>
                </a:solidFill>
                <a:latin typeface="Calibri"/>
              </a:defRPr>
            </a:pPr>
            <a:r>
              <a:t>76%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Cost saved</a:t>
            </a:r>
          </a:p>
          <a:p>
            <a:pPr>
              <a:spcBef>
                <a:spcPts val="100"/>
              </a:spcBef>
              <a:defRPr sz="1800" b="1">
                <a:solidFill>
                  <a:srgbClr val="6EF0AE"/>
                </a:solidFill>
                <a:latin typeface="Calibri"/>
              </a:defRPr>
            </a:pPr>
            <a:r>
              <a:t>₹1926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Key insight</a:t>
            </a:r>
          </a:p>
          <a:p>
            <a:pPr>
              <a:spcBef>
                <a:spcPts val="100"/>
              </a:spcBef>
              <a:defRPr sz="1800" b="1">
                <a:solidFill>
                  <a:srgbClr val="BECDE1"/>
                </a:solidFill>
                <a:latin typeface="Calibri"/>
              </a:defRPr>
            </a:pPr>
            <a:r>
              <a:t>Returns on</a:t>
            </a:r>
            <a:br/>
            <a:r>
              <a:t>same loop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Pickup SLA</a:t>
            </a:r>
          </a:p>
          <a:p>
            <a:pPr>
              <a:spcBef>
                <a:spcPts val="100"/>
              </a:spcBef>
              <a:defRPr sz="1800" b="1">
                <a:solidFill>
                  <a:srgbClr val="6EF0AE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43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💼  Business Impact — End-to-End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Cumulative gains across all 3 layers and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0A12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1800" b="1">
                <a:solidFill>
                  <a:srgbClr val="6EF0AE"/>
                </a:solidFill>
                <a:latin typeface="Calibri"/>
              </a:defRPr>
            </a:pPr>
            <a:r>
              <a:t>₹3,533 saved per delivery cycle  ·  23 trucks eliminated  ·  ETA error 13% → 4%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920240" cy="132588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🚚  Fleet Reduction</a:t>
            </a:r>
          </a:p>
          <a:p>
            <a:pPr algn="ctr">
              <a:spcBef>
                <a:spcPts val="800"/>
              </a:spcBef>
              <a:defRPr sz="1900" b="1">
                <a:solidFill>
                  <a:srgbClr val="43C85A"/>
                </a:solidFill>
                <a:latin typeface="Calibri"/>
              </a:defRPr>
            </a:pPr>
            <a:r>
              <a:t>14→4</a:t>
            </a:r>
            <a:br/>
            <a:r>
              <a:t>+17→4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2286000"/>
            <a:ext cx="1920240" cy="132588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📏  Distance Saved</a:t>
            </a:r>
          </a:p>
          <a:p>
            <a:pPr algn="ctr">
              <a:spcBef>
                <a:spcPts val="800"/>
              </a:spcBef>
              <a:defRPr sz="1900" b="1">
                <a:solidFill>
                  <a:srgbClr val="38BDF8"/>
                </a:solidFill>
                <a:latin typeface="Calibri"/>
              </a:defRPr>
            </a:pPr>
            <a:r>
              <a:t>134km + 161km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286000"/>
            <a:ext cx="1920240" cy="132588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💰  Cost Savings</a:t>
            </a:r>
          </a:p>
          <a:p>
            <a:pPr algn="ctr">
              <a:spcBef>
                <a:spcPts val="800"/>
              </a:spcBef>
              <a:defRPr sz="1900" b="1">
                <a:solidFill>
                  <a:srgbClr val="6EF0AE"/>
                </a:solidFill>
                <a:latin typeface="Calibri"/>
              </a:defRPr>
            </a:pPr>
            <a:r>
              <a:t>₹3,533</a:t>
            </a:r>
            <a:br/>
            <a:r>
              <a:t>per 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2286000"/>
            <a:ext cx="1920240" cy="132588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📈  SLA at Scale</a:t>
            </a:r>
          </a:p>
          <a:p>
            <a:pPr algn="ctr">
              <a:spcBef>
                <a:spcPts val="800"/>
              </a:spcBef>
              <a:defRPr sz="1900" b="1">
                <a:solidFill>
                  <a:srgbClr val="43C85A"/>
                </a:solidFill>
                <a:latin typeface="Calibri"/>
              </a:defRPr>
            </a:pPr>
            <a:r>
              <a:t>100% delivery</a:t>
            </a:r>
            <a:br/>
            <a:r>
              <a:t>100% pickup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BECDE1"/>
                </a:solidFill>
                <a:latin typeface="Calibri"/>
              </a:defRPr>
            </a:pPr>
            <a:r>
              <a:t>📊  At 1,000 deliveries/day — Monthly savings: ₹14+ Lakhs in fuel alone (₹14.6L/month)  ·  Fleet ROI: 6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8296AF"/>
                </a:solidFill>
                <a:latin typeface="Calibri"/>
              </a:defRPr>
            </a:pPr>
            <a:r>
              <a:t>🌍  Real-world proof: Flipkart reduced last-mile cost by 40% using unified fleet + route optimization (same architecture)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E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⚙️  Technology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Production-grade stack — runs locally in under 30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8BDF8"/>
                </a:solidFill>
                <a:latin typeface="Calibri"/>
              </a:defRPr>
            </a:pPr>
            <a:r>
              <a:t>🔧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23444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Google OR-Tools VRPTW  ·  25s solve time  ·  Soft time windows + capacity constraints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01368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8BDF8"/>
                </a:solidFill>
                <a:latin typeface="Calibri"/>
              </a:defRPr>
            </a:pPr>
            <a:r>
              <a:t>🗺️ Road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94767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OSRM  ·  Real Bengaluru travel times  ·  18×18 matrix cached locally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66090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8BDF8"/>
                </a:solidFill>
                <a:latin typeface="Calibri"/>
              </a:defRPr>
            </a:pPr>
            <a:r>
              <a:t>📊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60904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Streamlit  ·  3 tabs + 3 sidebar features  ·  Live interactive maps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2783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37413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8BDF8"/>
                </a:solidFill>
                <a:latin typeface="Calibri"/>
              </a:defRPr>
            </a:pPr>
            <a:r>
              <a:t>🗺️ Visualisation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374136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Folium + AntPath  ·  Animated rerouted paths  ·  Stop-level SLA badges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41064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0873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8BDF8"/>
                </a:solidFill>
                <a:latin typeface="Calibri"/>
              </a:defRPr>
            </a:pPr>
            <a:r>
              <a:t>🧠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087368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EMA correction table  ·  Per-segment, per-time-band learning  ·  α = 0.3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0963" y="457382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A032"/>
                </a:solidFill>
                <a:latin typeface="Calibri"/>
              </a:defRPr>
            </a:pPr>
            <a:r>
              <a:rPr dirty="0"/>
              <a:t>🎯  Demo Highlights: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532014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rPr dirty="0"/>
              <a:t>Side-by-side route maps  ·  3-scenario traffic simulation  ·  ETA learning curve  ·  Unified </a:t>
            </a:r>
            <a:r>
              <a:rPr dirty="0" err="1"/>
              <a:t>delivery+pickup</a:t>
            </a:r>
            <a:r>
              <a:rPr dirty="0"/>
              <a:t> routes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E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64008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 i="0">
                <a:solidFill>
                  <a:srgbClr val="F5F8FF"/>
                </a:solidFill>
                <a:latin typeface="Calibri"/>
              </a:defRPr>
            </a:pPr>
            <a:r>
              <a:t>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315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F8FF"/>
                </a:solidFill>
                <a:latin typeface="Calibri"/>
              </a:defRPr>
            </a:pP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815</Words>
  <Application>Microsoft Office PowerPoint</Application>
  <PresentationFormat>On-screen Show (16:9)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Thijesh praveen V</cp:lastModifiedBy>
  <cp:revision>2</cp:revision>
  <dcterms:created xsi:type="dcterms:W3CDTF">2013-01-27T09:14:16Z</dcterms:created>
  <dcterms:modified xsi:type="dcterms:W3CDTF">2026-03-09T02:40:10Z</dcterms:modified>
  <cp:category/>
</cp:coreProperties>
</file>